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5296"/>
  </p:normalViewPr>
  <p:slideViewPr>
    <p:cSldViewPr snapToGrid="0" snapToObjects="1">
      <p:cViewPr>
        <p:scale>
          <a:sx n="75" d="100"/>
          <a:sy n="75" d="100"/>
        </p:scale>
        <p:origin x="1224" y="6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453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Today I am presenting a grocery-planning dashboard that takes a nutrition goal and turns it into a practical shopping 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clearest audience for this tool is a busy, health-conscious shopper who is not a nutrition expert.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real-world problem is that eating for a goal sounds simple until someone has to stand in a store and decide what to buy.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At a high level, the tool asks for a location, a daily target, a few food preferences, and any pantry items the user already has.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shows why the tool is accessible for a non-specialist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the most important interaction story: changing one preference changes cost, basket composition, and sometimes store 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a concrete example of the tool speaking in plain English through a single observed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tool is useful, but it is important to state its limits clearly and honestly.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Several groups are affected by this tool, so transparency and accessibility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big takeaway is that this project makes nutrition goals more actionable.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04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2377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D9A441"/>
                </a:solidFill>
                <a:latin typeface="Avenir Next"/>
              </a:defRPr>
            </a:pPr>
            <a:r>
              <a:t>INDENG 243 ANALYTICS COMMUNICATION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5D6E61"/>
                </a:solidFill>
                <a:latin typeface="Avenir Next"/>
              </a:defRPr>
            </a:pPr>
            <a:r>
              <a:t>01</a:t>
            </a:r>
          </a:p>
        </p:txBody>
      </p:sp>
      <p:sp>
        <p:nvSpPr>
          <p:cNvPr id="5" name="Oval 4"/>
          <p:cNvSpPr/>
          <p:nvPr/>
        </p:nvSpPr>
        <p:spPr>
          <a:xfrm>
            <a:off x="9052560" y="-91440"/>
            <a:ext cx="3200400" cy="3200400"/>
          </a:xfrm>
          <a:prstGeom prst="ellipse">
            <a:avLst/>
          </a:prstGeom>
          <a:solidFill>
            <a:srgbClr val="315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1051560"/>
            <a:ext cx="4389120" cy="123444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3600" b="1">
                <a:solidFill>
                  <a:srgbClr val="163126"/>
                </a:solidFill>
                <a:latin typeface="Avenir Next"/>
              </a:defRPr>
            </a:pPr>
            <a:r>
              <a:t>From Nutrition Goals</a:t>
            </a:r>
            <a:br/>
            <a:r>
              <a:t>to a Grocery Trip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2414016"/>
            <a:ext cx="4754880" cy="91440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800" b="0">
                <a:solidFill>
                  <a:srgbClr val="5D6E61"/>
                </a:solidFill>
                <a:latin typeface="Avenir"/>
              </a:defRPr>
            </a:pPr>
            <a:r>
              <a:t>This tool turns a health goal into a practical grocery list, a rough cost estimate, and nearby store suggestions.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3493008"/>
            <a:ext cx="1920240" cy="301752"/>
          </a:xfrm>
          <a:prstGeom prst="roundRect">
            <a:avLst/>
          </a:prstGeom>
          <a:solidFill>
            <a:srgbClr val="EA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25400" rtlCol="0" anchor="ctr"/>
          <a:lstStyle/>
          <a:p>
            <a:pPr algn="ctr">
              <a:defRPr sz="1400">
                <a:solidFill>
                  <a:srgbClr val="204736"/>
                </a:solidFill>
                <a:latin typeface="Avenir Next"/>
              </a:defRPr>
            </a:pPr>
            <a:r>
              <a:t>Non-technical audience first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3858768"/>
            <a:ext cx="1920240" cy="301752"/>
          </a:xfrm>
          <a:prstGeom prst="roundRect">
            <a:avLst/>
          </a:prstGeom>
          <a:solidFill>
            <a:srgbClr val="E8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25400" rtlCol="0" anchor="ctr"/>
          <a:lstStyle/>
          <a:p>
            <a:pPr algn="ctr">
              <a:defRPr sz="1400">
                <a:solidFill>
                  <a:srgbClr val="245072"/>
                </a:solidFill>
                <a:latin typeface="Avenir Next"/>
              </a:defRPr>
            </a:pPr>
            <a:r>
              <a:t>Observed on the deployed 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4224528"/>
            <a:ext cx="1920240" cy="301752"/>
          </a:xfrm>
          <a:prstGeom prst="roundRect">
            <a:avLst/>
          </a:prstGeom>
          <a:solidFill>
            <a:srgbClr val="F8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25400" rtlCol="0" anchor="ctr"/>
          <a:lstStyle/>
          <a:p>
            <a:pPr algn="ctr">
              <a:defRPr sz="1400">
                <a:solidFill>
                  <a:srgbClr val="C86A45"/>
                </a:solidFill>
                <a:latin typeface="Avenir Next"/>
              </a:defRPr>
            </a:pPr>
            <a:r>
              <a:t>Focus: decisions, tradeoffs, outcomes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4956048"/>
            <a:ext cx="4069080" cy="105156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5102352"/>
            <a:ext cx="3749039" cy="201168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600" b="1">
                <a:solidFill>
                  <a:srgbClr val="204736"/>
                </a:solidFill>
                <a:latin typeface="Avenir Next"/>
              </a:defRPr>
            </a:pPr>
            <a:r>
              <a:t>What the audience sees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376672"/>
            <a:ext cx="3657600" cy="804672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defRPr sz="1300">
                <a:solidFill>
                  <a:srgbClr val="163126"/>
                </a:solidFill>
                <a:latin typeface="Avenir"/>
              </a:defRPr>
            </a:pPr>
            <a:r>
              <a:t>• Preset goals like muscle gain, fat loss, maintenance, and budget-friendly healthy.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300">
                <a:solidFill>
                  <a:srgbClr val="163126"/>
                </a:solidFill>
                <a:latin typeface="Avenir"/>
              </a:defRPr>
            </a:pPr>
            <a:r>
              <a:t>• A one-click path from location and targets to a shopping list and store suggestions.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300">
                <a:solidFill>
                  <a:srgbClr val="163126"/>
                </a:solidFill>
                <a:latin typeface="Avenir"/>
              </a:defRPr>
            </a:pPr>
            <a:r>
              <a:t>• Outputs that read like a grocery assistant, not a technical dashboard.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868680"/>
            <a:ext cx="5074920" cy="49834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dashboard-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964" y="905256"/>
            <a:ext cx="3214032" cy="49103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46520" y="5925312"/>
            <a:ext cx="4983480" cy="27432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300" b="0">
                <a:solidFill>
                  <a:srgbClr val="5D6E61"/>
                </a:solidFill>
                <a:latin typeface="Avenir"/>
              </a:defRPr>
            </a:pPr>
            <a:r>
              <a:t>Hero view: the deployed dashboard starts with presets, local store lookup, and a guided form.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04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2377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D9A441"/>
                </a:solidFill>
                <a:latin typeface="Avenir Next"/>
              </a:defRPr>
            </a:pPr>
            <a:r>
              <a:t>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5D6E61"/>
                </a:solidFill>
                <a:latin typeface="Avenir Next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9966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3000" b="1">
                <a:solidFill>
                  <a:srgbClr val="163126"/>
                </a:solidFill>
                <a:latin typeface="Avenir Next"/>
              </a:defRPr>
            </a:pPr>
            <a:r>
              <a:t>Who This Is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98448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600">
                <a:solidFill>
                  <a:srgbClr val="5D6E61"/>
                </a:solidFill>
                <a:latin typeface="Avenir"/>
              </a:defRPr>
            </a:pPr>
            <a:r>
              <a:t>The clearest non-technical audience is a shopper who wants healthier and easier grocery decisions, not a model developer.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828800"/>
            <a:ext cx="3977639" cy="3977639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011680"/>
            <a:ext cx="3474720" cy="237744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700" b="1">
                <a:solidFill>
                  <a:srgbClr val="204736"/>
                </a:solidFill>
                <a:latin typeface="Avenir Next"/>
              </a:defRPr>
            </a:pPr>
            <a:r>
              <a:t>Primary user persona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377440"/>
            <a:ext cx="3566160" cy="50292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2400" b="1">
                <a:solidFill>
                  <a:srgbClr val="163126"/>
                </a:solidFill>
                <a:latin typeface="Avenir Next"/>
              </a:defRPr>
            </a:pPr>
            <a:r>
              <a:t>Busy students and young professionals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017520"/>
            <a:ext cx="3566160" cy="114300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700" b="0">
                <a:solidFill>
                  <a:srgbClr val="5D6E61"/>
                </a:solidFill>
                <a:latin typeface="Avenir"/>
              </a:defRPr>
            </a:pPr>
            <a:r>
              <a:t>People who want to shop for muscle gain, fat loss, maintenance, or a healthier budget without building a meal plan from scratch.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297680"/>
            <a:ext cx="3611880" cy="128016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defRPr sz="1400">
                <a:solidFill>
                  <a:srgbClr val="163126"/>
                </a:solidFill>
                <a:latin typeface="Avenir"/>
              </a:defRPr>
            </a:pPr>
            <a:r>
              <a:t>• They want a recommendation in minutes, not a spreadsheet exercise.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400">
                <a:solidFill>
                  <a:srgbClr val="163126"/>
                </a:solidFill>
                <a:latin typeface="Avenir"/>
              </a:defRPr>
            </a:pPr>
            <a:r>
              <a:t>• They care about rough basket cost before they get to the store.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400">
                <a:solidFill>
                  <a:srgbClr val="163126"/>
                </a:solidFill>
                <a:latin typeface="Avenir"/>
              </a:defRPr>
            </a:pPr>
            <a:r>
              <a:t>• They need outputs they can trust without knowing the math.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1828800"/>
            <a:ext cx="3154680" cy="1554480"/>
          </a:xfrm>
          <a:prstGeom prst="roundRect">
            <a:avLst/>
          </a:prstGeom>
          <a:solidFill>
            <a:srgbClr val="EAF2E7"/>
          </a:solidFill>
          <a:ln w="12700">
            <a:solidFill>
              <a:srgbClr val="EA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65192" y="1993392"/>
            <a:ext cx="2743200" cy="201168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800" b="1">
                <a:solidFill>
                  <a:srgbClr val="204736"/>
                </a:solidFill>
                <a:latin typeface="Avenir Next"/>
              </a:defRPr>
            </a:pPr>
            <a:r>
              <a:t>Fast 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65192" y="2359152"/>
            <a:ext cx="2788920" cy="82296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500" b="0">
                <a:solidFill>
                  <a:srgbClr val="163126"/>
                </a:solidFill>
                <a:latin typeface="Avenir"/>
              </a:defRPr>
            </a:pPr>
            <a:r>
              <a:t>Preset buttons and a one-click recommend flow lower setup effort.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1828800"/>
            <a:ext cx="3154680" cy="1554480"/>
          </a:xfrm>
          <a:prstGeom prst="roundRect">
            <a:avLst/>
          </a:prstGeom>
          <a:solidFill>
            <a:srgbClr val="E8F0F7"/>
          </a:solidFill>
          <a:ln w="12700">
            <a:solidFill>
              <a:srgbClr val="E8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77072" y="1993392"/>
            <a:ext cx="2743200" cy="201168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800" b="1">
                <a:solidFill>
                  <a:srgbClr val="204736"/>
                </a:solidFill>
                <a:latin typeface="Avenir Next"/>
              </a:defRPr>
            </a:pPr>
            <a:r>
              <a:t>Affordable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2359152"/>
            <a:ext cx="2788920" cy="82296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500" b="0">
                <a:solidFill>
                  <a:srgbClr val="163126"/>
                </a:solidFill>
                <a:latin typeface="Avenir"/>
              </a:defRPr>
            </a:pPr>
            <a:r>
              <a:t>The app surfaces a typical basket cost so the recommendation feels practical.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0600" y="3794760"/>
            <a:ext cx="3154680" cy="1554480"/>
          </a:xfrm>
          <a:prstGeom prst="roundRect">
            <a:avLst/>
          </a:prstGeom>
          <a:solidFill>
            <a:srgbClr val="F8E8E1"/>
          </a:solidFill>
          <a:ln w="12700">
            <a:solidFill>
              <a:srgbClr val="F8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65192" y="3959352"/>
            <a:ext cx="2743200" cy="201168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800" b="1">
                <a:solidFill>
                  <a:srgbClr val="204736"/>
                </a:solidFill>
                <a:latin typeface="Avenir Next"/>
              </a:defRPr>
            </a:pPr>
            <a:r>
              <a:t>Local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65192" y="4325112"/>
            <a:ext cx="2788920" cy="82296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500" b="0">
                <a:solidFill>
                  <a:srgbClr val="163126"/>
                </a:solidFill>
                <a:latin typeface="Avenir"/>
              </a:defRPr>
            </a:pPr>
            <a:r>
              <a:t>Nearby store lookup makes the output feel tied to a real trip, not just a nutrition target.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3794760"/>
            <a:ext cx="3154680" cy="1554480"/>
          </a:xfrm>
          <a:prstGeom prst="roundRect">
            <a:avLst/>
          </a:prstGeom>
          <a:solidFill>
            <a:srgbClr val="F5E5BE"/>
          </a:solidFill>
          <a:ln w="12700">
            <a:solidFill>
              <a:srgbClr val="F5E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77072" y="3959352"/>
            <a:ext cx="2743200" cy="201168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800" b="1">
                <a:solidFill>
                  <a:srgbClr val="204736"/>
                </a:solidFill>
                <a:latin typeface="Avenir Next"/>
              </a:defRPr>
            </a:pPr>
            <a:r>
              <a:t>Understandable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7072" y="4325112"/>
            <a:ext cx="2788920" cy="82296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500" b="0">
                <a:solidFill>
                  <a:srgbClr val="163126"/>
                </a:solidFill>
                <a:latin typeface="Avenir"/>
              </a:defRPr>
            </a:pPr>
            <a:r>
              <a:t>The interface uses grocery language and simple controls instead of technical settings.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6126480"/>
            <a:ext cx="10972800" cy="329184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400" b="0">
                <a:solidFill>
                  <a:srgbClr val="5D6E61"/>
                </a:solidFill>
                <a:latin typeface="Avenir"/>
              </a:defRPr>
            </a:pPr>
            <a:r>
              <a:t>Why that audience fit makes sense: the dashboard exposes presets, pantry checkboxes, shopping modes, nearby stores, and plain-language notes. That is the shape of a guided consumer tool, not a specialist analytics console.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04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2377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D9A441"/>
                </a:solidFill>
                <a:latin typeface="Avenir Next"/>
              </a:defRPr>
            </a:pPr>
            <a: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5D6E61"/>
                </a:solidFill>
                <a:latin typeface="Avenir Next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9966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3000" b="1">
                <a:solidFill>
                  <a:srgbClr val="163126"/>
                </a:solidFill>
                <a:latin typeface="Avenir Next"/>
              </a:defRPr>
            </a:pPr>
            <a:r>
              <a:t>The Real-World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98448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600">
                <a:solidFill>
                  <a:srgbClr val="5D6E61"/>
                </a:solidFill>
                <a:latin typeface="Avenir"/>
              </a:defRPr>
            </a:pPr>
            <a:r>
              <a:t>Nutrition advice is abstract, but shopping is local, budget-constrained, and full of practical tradeoffs.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965960"/>
            <a:ext cx="5166360" cy="1645920"/>
          </a:xfrm>
          <a:prstGeom prst="roundRect">
            <a:avLst/>
          </a:prstGeom>
          <a:solidFill>
            <a:srgbClr val="E8F0F7"/>
          </a:solidFill>
          <a:ln w="12700">
            <a:solidFill>
              <a:srgbClr val="E8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148840"/>
            <a:ext cx="2194560" cy="22860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2000" b="1">
                <a:solidFill>
                  <a:srgbClr val="204736"/>
                </a:solidFill>
                <a:latin typeface="Avenir Next"/>
              </a:defRPr>
            </a:pPr>
            <a:r>
              <a:t>Abstract advice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532888"/>
            <a:ext cx="4663440" cy="786384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600" b="0">
                <a:solidFill>
                  <a:srgbClr val="163126"/>
                </a:solidFill>
                <a:latin typeface="Avenir"/>
              </a:defRPr>
            </a:pPr>
            <a:r>
              <a:t>Someone may know they want more protein or a lower-cost basket, but that still does not tell them what to buy.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965960"/>
            <a:ext cx="5166360" cy="1645920"/>
          </a:xfrm>
          <a:prstGeom prst="roundRect">
            <a:avLst/>
          </a:prstGeom>
          <a:solidFill>
            <a:srgbClr val="EAF2E7"/>
          </a:solidFill>
          <a:ln w="12700">
            <a:solidFill>
              <a:srgbClr val="EA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2148840"/>
            <a:ext cx="2194560" cy="22860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2000" b="1">
                <a:solidFill>
                  <a:srgbClr val="204736"/>
                </a:solidFill>
                <a:latin typeface="Avenir Next"/>
              </a:defRPr>
            </a:pPr>
            <a:r>
              <a:t>Too many tradeoffs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532888"/>
            <a:ext cx="4663440" cy="786384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600" b="0">
                <a:solidFill>
                  <a:srgbClr val="163126"/>
                </a:solidFill>
                <a:latin typeface="Avenir"/>
              </a:defRPr>
            </a:pPr>
            <a:r>
              <a:t>Calories, protein, produce, convenience, pantry items, and cost all pull the basket in different directions.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4160520"/>
            <a:ext cx="5166360" cy="1645920"/>
          </a:xfrm>
          <a:prstGeom prst="roundRect">
            <a:avLst/>
          </a:prstGeom>
          <a:solidFill>
            <a:srgbClr val="F8E8E1"/>
          </a:solidFill>
          <a:ln w="12700">
            <a:solidFill>
              <a:srgbClr val="F8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4343400"/>
            <a:ext cx="2194560" cy="22860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2000" b="1">
                <a:solidFill>
                  <a:srgbClr val="204736"/>
                </a:solidFill>
                <a:latin typeface="Avenir Next"/>
              </a:defRPr>
            </a:pPr>
            <a:r>
              <a:t>Local reality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727448"/>
            <a:ext cx="4663440" cy="786384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600" b="0">
                <a:solidFill>
                  <a:srgbClr val="163126"/>
                </a:solidFill>
                <a:latin typeface="Avenir"/>
              </a:defRPr>
            </a:pPr>
            <a:r>
              <a:t>The decision depends on nearby stores and regional price levels, not just the target on paper.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4160520"/>
            <a:ext cx="5166360" cy="1645920"/>
          </a:xfrm>
          <a:prstGeom prst="roundRect">
            <a:avLst/>
          </a:prstGeom>
          <a:solidFill>
            <a:srgbClr val="F5E5BE"/>
          </a:solidFill>
          <a:ln w="12700">
            <a:solidFill>
              <a:srgbClr val="F5E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4343400"/>
            <a:ext cx="2194560" cy="22860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2000" b="1">
                <a:solidFill>
                  <a:srgbClr val="204736"/>
                </a:solidFill>
                <a:latin typeface="Avenir Next"/>
              </a:defRPr>
            </a:pPr>
            <a:r>
              <a:t>Decision fatigue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727448"/>
            <a:ext cx="4663440" cy="786384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600" b="0">
                <a:solidFill>
                  <a:srgbClr val="163126"/>
                </a:solidFill>
                <a:latin typeface="Avenir"/>
              </a:defRPr>
            </a:pPr>
            <a:r>
              <a:t>Without structure, the user either guesses or buys a basket that does not really match the goal.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6199632"/>
            <a:ext cx="11064240" cy="502920"/>
          </a:xfrm>
          <a:prstGeom prst="roundRect">
            <a:avLst/>
          </a:prstGeom>
          <a:solidFill>
            <a:srgbClr val="204736"/>
          </a:solidFill>
          <a:ln w="12700">
            <a:solidFill>
              <a:srgbClr val="204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50800" rtlCol="0" anchor="ctr"/>
          <a:lstStyle/>
          <a:p>
            <a:pPr algn="ctr">
              <a:defRPr sz="1700">
                <a:solidFill>
                  <a:srgbClr val="FFFDF8"/>
                </a:solidFill>
                <a:latin typeface="Avenir Next"/>
              </a:defRPr>
            </a:pPr>
            <a:r>
              <a:t>Communication goal: help a non-expert user turn a health goal into a grocery decision they can actually act 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04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2377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D9A441"/>
                </a:solidFill>
                <a:latin typeface="Avenir Next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5D6E61"/>
                </a:solidFill>
                <a:latin typeface="Avenir Next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9966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3000" b="1">
                <a:solidFill>
                  <a:srgbClr val="163126"/>
                </a:solidFill>
                <a:latin typeface="Avenir Next"/>
              </a:defRPr>
            </a:pPr>
            <a:r>
              <a:t>What The Tool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98448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600">
                <a:solidFill>
                  <a:srgbClr val="5D6E61"/>
                </a:solidFill>
                <a:latin typeface="Avenir"/>
              </a:defRPr>
            </a:pPr>
            <a:r>
              <a:t>The clearest explanation is a simple decision pipeline, not a technical architecture diagram.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331720"/>
            <a:ext cx="2240280" cy="21488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31520" y="2523744"/>
            <a:ext cx="438912" cy="438912"/>
          </a:xfrm>
          <a:prstGeom prst="ellipse">
            <a:avLst/>
          </a:prstGeom>
          <a:solidFill>
            <a:srgbClr val="F5E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5400" rIns="0" bIns="0" rtlCol="0" anchor="ctr"/>
          <a:lstStyle/>
          <a:p>
            <a:pPr algn="ctr">
              <a:defRPr sz="1800">
                <a:solidFill>
                  <a:srgbClr val="204736"/>
                </a:solidFill>
                <a:latin typeface="Avenir Next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154680"/>
            <a:ext cx="1874519" cy="27432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800" b="1">
                <a:solidFill>
                  <a:srgbClr val="204736"/>
                </a:solidFill>
                <a:latin typeface="Avenir Next"/>
              </a:defRPr>
            </a:pPr>
            <a:r>
              <a:t>1. User 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529584"/>
            <a:ext cx="1874519" cy="676656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500" b="0">
                <a:solidFill>
                  <a:srgbClr val="5D6E61"/>
                </a:solidFill>
                <a:latin typeface="Avenir"/>
              </a:defRPr>
            </a:pPr>
            <a:r>
              <a:t>Location, targets, preferences, pantry, and shopping window.</a:t>
            </a:r>
          </a:p>
        </p:txBody>
      </p:sp>
      <p:sp>
        <p:nvSpPr>
          <p:cNvPr id="11" name="Chevron 10"/>
          <p:cNvSpPr/>
          <p:nvPr/>
        </p:nvSpPr>
        <p:spPr>
          <a:xfrm>
            <a:off x="2871216" y="3182112"/>
            <a:ext cx="384048" cy="402336"/>
          </a:xfrm>
          <a:prstGeom prst="chevron">
            <a:avLst/>
          </a:prstGeom>
          <a:solidFill>
            <a:srgbClr val="315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246120" y="2331720"/>
            <a:ext cx="2240280" cy="21488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410712" y="2523744"/>
            <a:ext cx="438912" cy="438912"/>
          </a:xfrm>
          <a:prstGeom prst="ellipse">
            <a:avLst/>
          </a:prstGeom>
          <a:solidFill>
            <a:srgbClr val="F5E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5400" rIns="0" bIns="0" rtlCol="0" anchor="ctr"/>
          <a:lstStyle/>
          <a:p>
            <a:pPr algn="ctr">
              <a:defRPr sz="1800">
                <a:solidFill>
                  <a:srgbClr val="204736"/>
                </a:solidFill>
                <a:latin typeface="Avenir Next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3154680"/>
            <a:ext cx="1874519" cy="27432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800" b="1">
                <a:solidFill>
                  <a:srgbClr val="204736"/>
                </a:solidFill>
                <a:latin typeface="Avenir Next"/>
              </a:defRPr>
            </a:pPr>
            <a:r>
              <a:t>2. Basket options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3529584"/>
            <a:ext cx="1874519" cy="676656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500" b="0">
                <a:solidFill>
                  <a:srgbClr val="5D6E61"/>
                </a:solidFill>
                <a:latin typeface="Avenir"/>
              </a:defRPr>
            </a:pPr>
            <a:r>
              <a:t>The planner builds several plausible grocery baskets.</a:t>
            </a:r>
          </a:p>
        </p:txBody>
      </p:sp>
      <p:sp>
        <p:nvSpPr>
          <p:cNvPr id="16" name="Chevron 15"/>
          <p:cNvSpPr/>
          <p:nvPr/>
        </p:nvSpPr>
        <p:spPr>
          <a:xfrm>
            <a:off x="5550408" y="3182112"/>
            <a:ext cx="384048" cy="402336"/>
          </a:xfrm>
          <a:prstGeom prst="chevron">
            <a:avLst/>
          </a:prstGeom>
          <a:solidFill>
            <a:srgbClr val="315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925312" y="2331720"/>
            <a:ext cx="2240280" cy="21488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089904" y="2523744"/>
            <a:ext cx="438912" cy="438912"/>
          </a:xfrm>
          <a:prstGeom prst="ellipse">
            <a:avLst/>
          </a:prstGeom>
          <a:solidFill>
            <a:srgbClr val="F5E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5400" rIns="0" bIns="0" rtlCol="0" anchor="ctr"/>
          <a:lstStyle/>
          <a:p>
            <a:pPr algn="ctr">
              <a:defRPr sz="1800">
                <a:solidFill>
                  <a:srgbClr val="204736"/>
                </a:solidFill>
                <a:latin typeface="Avenir Next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71616" y="3154680"/>
            <a:ext cx="1874519" cy="27432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800" b="1">
                <a:solidFill>
                  <a:srgbClr val="204736"/>
                </a:solidFill>
                <a:latin typeface="Avenir Next"/>
              </a:defRPr>
            </a:pPr>
            <a:r>
              <a:t>3. Final choice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71616" y="3529584"/>
            <a:ext cx="1874519" cy="676656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500" b="0">
                <a:solidFill>
                  <a:srgbClr val="5D6E61"/>
                </a:solidFill>
                <a:latin typeface="Avenir"/>
              </a:defRPr>
            </a:pPr>
            <a:r>
              <a:t>It chooses the basket that best balances nutrition fit, practicality, and price-awareness.</a:t>
            </a:r>
          </a:p>
        </p:txBody>
      </p:sp>
      <p:sp>
        <p:nvSpPr>
          <p:cNvPr id="21" name="Chevron 20"/>
          <p:cNvSpPr/>
          <p:nvPr/>
        </p:nvSpPr>
        <p:spPr>
          <a:xfrm>
            <a:off x="8229600" y="3182112"/>
            <a:ext cx="384048" cy="402336"/>
          </a:xfrm>
          <a:prstGeom prst="chevron">
            <a:avLst/>
          </a:prstGeom>
          <a:solidFill>
            <a:srgbClr val="315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604504" y="2331720"/>
            <a:ext cx="2240280" cy="21488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769096" y="2523744"/>
            <a:ext cx="438912" cy="438912"/>
          </a:xfrm>
          <a:prstGeom prst="ellipse">
            <a:avLst/>
          </a:prstGeom>
          <a:solidFill>
            <a:srgbClr val="F5E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5400" rIns="0" bIns="0" rtlCol="0" anchor="ctr"/>
          <a:lstStyle/>
          <a:p>
            <a:pPr algn="ctr">
              <a:defRPr sz="1800">
                <a:solidFill>
                  <a:srgbClr val="204736"/>
                </a:solidFill>
                <a:latin typeface="Avenir Next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0808" y="3154680"/>
            <a:ext cx="1874519" cy="27432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800" b="1">
                <a:solidFill>
                  <a:srgbClr val="204736"/>
                </a:solidFill>
                <a:latin typeface="Avenir Next"/>
              </a:defRPr>
            </a:pPr>
            <a:r>
              <a:t>4. Decision 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50808" y="3529584"/>
            <a:ext cx="1874519" cy="676656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500" b="0">
                <a:solidFill>
                  <a:srgbClr val="5D6E61"/>
                </a:solidFill>
                <a:latin typeface="Avenir"/>
              </a:defRPr>
            </a:pPr>
            <a:r>
              <a:t>It returns a list, a summary, a rough cost, and store suggestions.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074920"/>
            <a:ext cx="10972800" cy="932688"/>
          </a:xfrm>
          <a:prstGeom prst="roundRect">
            <a:avLst/>
          </a:prstGeom>
          <a:solidFill>
            <a:srgbClr val="EAF2E7"/>
          </a:solidFill>
          <a:ln w="12700">
            <a:solidFill>
              <a:srgbClr val="EA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8" y="5303520"/>
            <a:ext cx="10607040" cy="45720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700" b="1">
                <a:solidFill>
                  <a:srgbClr val="204736"/>
                </a:solidFill>
                <a:latin typeface="Avenir Next"/>
              </a:defRPr>
            </a:pPr>
            <a:r>
              <a:t>Plain-English summary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5614416"/>
            <a:ext cx="10424160" cy="347472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800" b="0">
                <a:solidFill>
                  <a:srgbClr val="163126"/>
                </a:solidFill>
                <a:latin typeface="Avenir"/>
              </a:defRPr>
            </a:pPr>
            <a:r>
              <a:t>In other words, the app tries a few sensible shopping baskets and picks one that seems closest to the user's goal without ignoring realism.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04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2377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D9A441"/>
                </a:solidFill>
                <a:latin typeface="Avenir Next"/>
              </a:defRPr>
            </a:pPr>
            <a:r>
              <a:t>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5D6E61"/>
                </a:solidFill>
                <a:latin typeface="Avenir Next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9966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3000" b="1">
                <a:solidFill>
                  <a:srgbClr val="163126"/>
                </a:solidFill>
                <a:latin typeface="Avenir Next"/>
              </a:defRPr>
            </a:pPr>
            <a:r>
              <a:t>How A User Interacts With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98448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600">
                <a:solidFill>
                  <a:srgbClr val="5D6E61"/>
                </a:solidFill>
                <a:latin typeface="Avenir"/>
              </a:defRPr>
            </a:pPr>
            <a:r>
              <a:t>The interface is organized like a guided grocery-planning workflow rather than a technical analytics dashboard.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965960"/>
            <a:ext cx="6903720" cy="30175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dashboard-inpu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121" y="2002536"/>
            <a:ext cx="5544182" cy="294436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62672" y="1965960"/>
            <a:ext cx="3886200" cy="30175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dashboard-sto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9248" y="2819016"/>
            <a:ext cx="3813048" cy="13114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0352" y="5047488"/>
            <a:ext cx="2286000" cy="219456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500" b="1">
                <a:solidFill>
                  <a:srgbClr val="204736"/>
                </a:solidFill>
                <a:latin typeface="Avenir Next"/>
              </a:defRPr>
            </a:pPr>
            <a:r>
              <a:t>Step 1: set the goal and preferences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5047488"/>
            <a:ext cx="2377440" cy="219456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500" b="1">
                <a:solidFill>
                  <a:srgbClr val="204736"/>
                </a:solidFill>
                <a:latin typeface="Avenir Next"/>
              </a:defRPr>
            </a:pPr>
            <a:r>
              <a:t>Step 2: load nearby supermarkets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5394960"/>
            <a:ext cx="11018520" cy="10058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5559552"/>
            <a:ext cx="2743200" cy="219456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700" b="1">
                <a:solidFill>
                  <a:srgbClr val="204736"/>
                </a:solidFill>
                <a:latin typeface="Avenir Next"/>
              </a:defRPr>
            </a:pPr>
            <a:r>
              <a:t>Why this is user-friendly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806440"/>
            <a:ext cx="10607040" cy="566928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defRPr sz="1300">
                <a:solidFill>
                  <a:srgbClr val="163126"/>
                </a:solidFill>
                <a:latin typeface="Avenir"/>
              </a:defRPr>
            </a:pPr>
            <a:r>
              <a:t>• Preset buttons reduce setup effort for common goals like muscle gain, fat loss, and budget-friendly healthy.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300">
                <a:solidFill>
                  <a:srgbClr val="163126"/>
                </a:solidFill>
                <a:latin typeface="Avenir"/>
              </a:defRPr>
            </a:pPr>
            <a:r>
              <a:t>• The main controls are everyday choices: calories, protein, days, shopping mode, dietary flags, and pantry items.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300">
                <a:solidFill>
                  <a:srgbClr val="163126"/>
                </a:solidFill>
                <a:latin typeface="Avenir"/>
              </a:defRPr>
            </a:pPr>
            <a:r>
              <a:t>• Nearby store lookup and Recommend are separate steps, which helps a first-time user explore before committing.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04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2377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D9A441"/>
                </a:solidFill>
                <a:latin typeface="Avenir Next"/>
              </a:defRPr>
            </a:pPr>
            <a:r>
              <a:t>DECISION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5D6E61"/>
                </a:solidFill>
                <a:latin typeface="Avenir Next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9966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3000" b="1">
                <a:solidFill>
                  <a:srgbClr val="163126"/>
                </a:solidFill>
                <a:latin typeface="Avenir Next"/>
              </a:defRPr>
            </a:pPr>
            <a:r>
              <a:t>What Changes When Decisions 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98448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600">
                <a:solidFill>
                  <a:srgbClr val="5D6E61"/>
                </a:solidFill>
                <a:latin typeface="Avenir"/>
              </a:defRPr>
            </a:pPr>
            <a:r>
              <a:t>These outputs were observed on the deployed app in Mountain View while holding the same base target constant.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965960"/>
            <a:ext cx="11018520" cy="457200"/>
          </a:xfrm>
          <a:prstGeom prst="roundRect">
            <a:avLst/>
          </a:prstGeom>
          <a:solidFill>
            <a:srgbClr val="204736"/>
          </a:solidFill>
          <a:ln w="12700">
            <a:solidFill>
              <a:srgbClr val="204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50800" rtlCol="0" anchor="ctr"/>
          <a:lstStyle/>
          <a:p>
            <a:pPr algn="ctr">
              <a:defRPr sz="1700">
                <a:solidFill>
                  <a:srgbClr val="FFFDF8"/>
                </a:solidFill>
                <a:latin typeface="Avenir Next"/>
              </a:defRPr>
            </a:pPr>
            <a:r>
              <a:t>Shared setup: Mountain View, CA | 2,200 kcal | 130 g protein | 1 day | balanced shopping mode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2697480"/>
            <a:ext cx="3337560" cy="3611880"/>
          </a:xfrm>
          <a:prstGeom prst="roundRect">
            <a:avLst/>
          </a:prstGeom>
          <a:solidFill>
            <a:srgbClr val="E8F0F7"/>
          </a:solidFill>
          <a:ln w="12700">
            <a:solidFill>
              <a:srgbClr val="E8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2852928"/>
            <a:ext cx="2743200" cy="219456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800" b="1">
                <a:solidFill>
                  <a:srgbClr val="204736"/>
                </a:solidFill>
                <a:latin typeface="Avenir Next"/>
              </a:defRPr>
            </a:pPr>
            <a:r>
              <a:t>Base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246120"/>
            <a:ext cx="1280160" cy="384048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2800" b="1">
                <a:solidFill>
                  <a:srgbClr val="163126"/>
                </a:solidFill>
                <a:latin typeface="Avenir Next"/>
              </a:defRPr>
            </a:pPr>
            <a:r>
              <a:t>$8.54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621024"/>
            <a:ext cx="1645920" cy="18288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300" b="0">
                <a:solidFill>
                  <a:srgbClr val="5D6E61"/>
                </a:solidFill>
                <a:latin typeface="Avenir"/>
              </a:defRPr>
            </a:pPr>
            <a:r>
              <a:t>Typical basket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913632"/>
            <a:ext cx="2880360" cy="713232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300" b="0">
                <a:solidFill>
                  <a:srgbClr val="163126"/>
                </a:solidFill>
                <a:latin typeface="Avenir"/>
              </a:defRPr>
            </a:pPr>
            <a:r>
              <a:t>Chicken breast, Rotisserie chicken, Wholemeal bread, Spinach, Carrots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681728"/>
            <a:ext cx="1463040" cy="18288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500" b="1">
                <a:solidFill>
                  <a:srgbClr val="204736"/>
                </a:solidFill>
                <a:latin typeface="Avenir Next"/>
              </a:defRPr>
            </a:pPr>
            <a:r>
              <a:t>Observed effect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956048"/>
            <a:ext cx="2852928" cy="50292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300" b="0">
                <a:solidFill>
                  <a:srgbClr val="163126"/>
                </a:solidFill>
                <a:latin typeface="Avenir"/>
              </a:defRPr>
            </a:pPr>
            <a:r>
              <a:t>Balances the target with familiar staples and a produce stop.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577840"/>
            <a:ext cx="2560320" cy="164592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300" b="1">
                <a:solidFill>
                  <a:srgbClr val="5D6E61"/>
                </a:solidFill>
                <a:latin typeface="Avenir Next"/>
              </a:defRPr>
            </a:pPr>
            <a:r>
              <a:t>Protein gap: +7.7 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5815584"/>
            <a:ext cx="2560320" cy="164592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300" b="0">
                <a:solidFill>
                  <a:srgbClr val="5D6E61"/>
                </a:solidFill>
                <a:latin typeface="Avenir"/>
              </a:defRPr>
            </a:pPr>
            <a:r>
              <a:t>Produce fit: La Plaza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2697480"/>
            <a:ext cx="3337560" cy="3611880"/>
          </a:xfrm>
          <a:prstGeom prst="roundRect">
            <a:avLst/>
          </a:prstGeom>
          <a:solidFill>
            <a:srgbClr val="EAF2E7"/>
          </a:solidFill>
          <a:ln w="12700">
            <a:solidFill>
              <a:srgbClr val="EA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34840" y="2852928"/>
            <a:ext cx="2743200" cy="219456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800" b="1">
                <a:solidFill>
                  <a:srgbClr val="204736"/>
                </a:solidFill>
                <a:latin typeface="Avenir Next"/>
              </a:defRPr>
            </a:pPr>
            <a:r>
              <a:t>Budget preference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246120"/>
            <a:ext cx="1280160" cy="384048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2800" b="1">
                <a:solidFill>
                  <a:srgbClr val="163126"/>
                </a:solidFill>
                <a:latin typeface="Avenir Next"/>
              </a:defRPr>
            </a:pPr>
            <a:r>
              <a:t>$5.44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621024"/>
            <a:ext cx="1645920" cy="18288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300" b="0">
                <a:solidFill>
                  <a:srgbClr val="5D6E61"/>
                </a:solidFill>
                <a:latin typeface="Avenir"/>
              </a:defRPr>
            </a:pPr>
            <a:r>
              <a:t>Typical basket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913632"/>
            <a:ext cx="2880360" cy="713232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300" b="0">
                <a:solidFill>
                  <a:srgbClr val="163126"/>
                </a:solidFill>
                <a:latin typeface="Avenir"/>
              </a:defRPr>
            </a:pPr>
            <a:r>
              <a:t>Lentils, Eggs, Rice, Cabbage, Carrots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681728"/>
            <a:ext cx="1463040" cy="18288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500" b="1">
                <a:solidFill>
                  <a:srgbClr val="204736"/>
                </a:solidFill>
                <a:latin typeface="Avenir Next"/>
              </a:defRPr>
            </a:pPr>
            <a:r>
              <a:t>Observed effect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956048"/>
            <a:ext cx="2852928" cy="50292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300" b="0">
                <a:solidFill>
                  <a:srgbClr val="163126"/>
                </a:solidFill>
                <a:latin typeface="Avenir"/>
              </a:defRPr>
            </a:pPr>
            <a:r>
              <a:t>Shifts toward cheaper pantry staples and keeps shopping simpler.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5577840"/>
            <a:ext cx="2560320" cy="164592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300" b="1">
                <a:solidFill>
                  <a:srgbClr val="5D6E61"/>
                </a:solidFill>
                <a:latin typeface="Avenir Next"/>
              </a:defRPr>
            </a:pPr>
            <a:r>
              <a:t>Protein gap: -19.4 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5815584"/>
            <a:ext cx="2560320" cy="164592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300" b="0">
                <a:solidFill>
                  <a:srgbClr val="5D6E61"/>
                </a:solidFill>
                <a:latin typeface="Avenir"/>
              </a:defRPr>
            </a:pPr>
            <a:r>
              <a:t>Produce fit: Safeway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73568" y="2697480"/>
            <a:ext cx="3337560" cy="3611880"/>
          </a:xfrm>
          <a:prstGeom prst="roundRect">
            <a:avLst/>
          </a:prstGeom>
          <a:solidFill>
            <a:srgbClr val="F8E8E1"/>
          </a:solidFill>
          <a:ln w="12700">
            <a:solidFill>
              <a:srgbClr val="F8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56448" y="2852928"/>
            <a:ext cx="2743200" cy="219456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800" b="1">
                <a:solidFill>
                  <a:srgbClr val="204736"/>
                </a:solidFill>
                <a:latin typeface="Avenir Next"/>
              </a:defRPr>
            </a:pPr>
            <a:r>
              <a:t>Low-prep preference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6448" y="3246120"/>
            <a:ext cx="1280160" cy="384048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2800" b="1">
                <a:solidFill>
                  <a:srgbClr val="163126"/>
                </a:solidFill>
                <a:latin typeface="Avenir Next"/>
              </a:defRPr>
            </a:pPr>
            <a:r>
              <a:t>$9.39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56448" y="3621024"/>
            <a:ext cx="1645920" cy="18288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300" b="0">
                <a:solidFill>
                  <a:srgbClr val="5D6E61"/>
                </a:solidFill>
                <a:latin typeface="Avenir"/>
              </a:defRPr>
            </a:pPr>
            <a:r>
              <a:t>Typical basket cost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3913632"/>
            <a:ext cx="2880360" cy="713232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300" b="0">
                <a:solidFill>
                  <a:srgbClr val="163126"/>
                </a:solidFill>
                <a:latin typeface="Avenir"/>
              </a:defRPr>
            </a:pPr>
            <a:r>
              <a:t>Rotisserie chicken, Chicken breast, Wholemeal bread, Apples, Bell peppers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56448" y="4681728"/>
            <a:ext cx="1463040" cy="18288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500" b="1">
                <a:solidFill>
                  <a:srgbClr val="204736"/>
                </a:solidFill>
                <a:latin typeface="Avenir Next"/>
              </a:defRPr>
            </a:pPr>
            <a:r>
              <a:t>Observed effect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6448" y="4956048"/>
            <a:ext cx="2852928" cy="50292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300" b="0">
                <a:solidFill>
                  <a:srgbClr val="163126"/>
                </a:solidFill>
                <a:latin typeface="Avenir"/>
              </a:defRPr>
            </a:pPr>
            <a:r>
              <a:t>Leans into convenience foods while still staying close to the target.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6448" y="5577840"/>
            <a:ext cx="2560320" cy="164592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300" b="1">
                <a:solidFill>
                  <a:srgbClr val="5D6E61"/>
                </a:solidFill>
                <a:latin typeface="Avenir Next"/>
              </a:defRPr>
            </a:pPr>
            <a:r>
              <a:t>Protein gap: +1.9 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5815584"/>
            <a:ext cx="2560320" cy="164592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300" b="0">
                <a:solidFill>
                  <a:srgbClr val="5D6E61"/>
                </a:solidFill>
                <a:latin typeface="Avenir"/>
              </a:defRPr>
            </a:pPr>
            <a:r>
              <a:t>Produce fit: La Plaza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" y="6382512"/>
            <a:ext cx="10972800" cy="219456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300" b="0">
                <a:solidFill>
                  <a:srgbClr val="5D6E61"/>
                </a:solidFill>
                <a:latin typeface="Avenir"/>
              </a:defRPr>
            </a:pPr>
            <a:r>
              <a:t>Takeaway: the app is not just filling calories and protein. It visibly trades off cost, convenience, and basket composition when the user changes preferences.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04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2377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D9A441"/>
                </a:solidFill>
                <a:latin typeface="Avenir Next"/>
              </a:defRPr>
            </a:pPr>
            <a:r>
              <a:t>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5D6E61"/>
                </a:solidFill>
                <a:latin typeface="Avenir Next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9966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3000" b="1">
                <a:solidFill>
                  <a:srgbClr val="163126"/>
                </a:solidFill>
                <a:latin typeface="Avenir Next"/>
              </a:defRPr>
            </a:pPr>
            <a:r>
              <a:t>Key Insight / Recommendation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98448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600">
                <a:solidFill>
                  <a:srgbClr val="5D6E61"/>
                </a:solidFill>
                <a:latin typeface="Avenir"/>
              </a:defRPr>
            </a:pPr>
            <a:r>
              <a:t>A concrete recommendation helps the audience understand what the tool is actually saying.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920240"/>
            <a:ext cx="6903720" cy="46634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dashboard-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849" y="1956816"/>
            <a:ext cx="2096725" cy="459028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62672" y="1920240"/>
            <a:ext cx="3886200" cy="46634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0" y="1673352"/>
            <a:ext cx="3291840" cy="256032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800" b="1">
                <a:solidFill>
                  <a:srgbClr val="204736"/>
                </a:solidFill>
                <a:latin typeface="Avenir Next"/>
              </a:defRPr>
            </a:pPr>
            <a:r>
              <a:rPr dirty="0"/>
              <a:t>Observed base recommendation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368296"/>
            <a:ext cx="2194560" cy="201168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500" b="1">
                <a:solidFill>
                  <a:srgbClr val="5D6E61"/>
                </a:solidFill>
                <a:latin typeface="Avenir Next"/>
              </a:defRPr>
            </a:pPr>
            <a:r>
              <a:t>What the model is saying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852928"/>
            <a:ext cx="3246120" cy="105156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900" b="0">
                <a:solidFill>
                  <a:srgbClr val="163126"/>
                </a:solidFill>
                <a:latin typeface="Avenir"/>
              </a:defRPr>
            </a:pPr>
            <a:r>
              <a:rPr dirty="0"/>
              <a:t>Buy a small set of versatile staples that gets you close to the target without making the trip expensive or overly complicated.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931920"/>
            <a:ext cx="3246120" cy="420624"/>
          </a:xfrm>
          <a:prstGeom prst="roundRect">
            <a:avLst/>
          </a:prstGeom>
          <a:solidFill>
            <a:srgbClr val="EAF2E7"/>
          </a:solidFill>
          <a:ln w="12700">
            <a:solidFill>
              <a:srgbClr val="EA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73568" y="4023360"/>
            <a:ext cx="914400" cy="219456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500" b="1">
                <a:solidFill>
                  <a:srgbClr val="204736"/>
                </a:solidFill>
                <a:latin typeface="Avenir Next"/>
              </a:defRPr>
            </a:pPr>
            <a:r>
              <a:t>Protein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4023360"/>
            <a:ext cx="2011680" cy="219456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500" b="0">
                <a:solidFill>
                  <a:srgbClr val="163126"/>
                </a:solidFill>
                <a:latin typeface="Avenir"/>
              </a:defRPr>
            </a:pPr>
            <a:r>
              <a:t>137.7 g vs 130.0 g target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4498848"/>
            <a:ext cx="3246120" cy="420624"/>
          </a:xfrm>
          <a:prstGeom prst="roundRect">
            <a:avLst/>
          </a:prstGeom>
          <a:solidFill>
            <a:srgbClr val="EAF2E7"/>
          </a:solidFill>
          <a:ln w="12700">
            <a:solidFill>
              <a:srgbClr val="EA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73568" y="4590288"/>
            <a:ext cx="914400" cy="219456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500" b="1">
                <a:solidFill>
                  <a:srgbClr val="204736"/>
                </a:solidFill>
                <a:latin typeface="Avenir Next"/>
              </a:defRPr>
            </a:pPr>
            <a:r>
              <a:t>Calories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4590288"/>
            <a:ext cx="2011680" cy="219456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500" b="0">
                <a:solidFill>
                  <a:srgbClr val="163126"/>
                </a:solidFill>
                <a:latin typeface="Avenir"/>
              </a:defRPr>
            </a:pPr>
            <a:r>
              <a:t>2160.4 vs 2200.0 target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5065776"/>
            <a:ext cx="3246120" cy="420624"/>
          </a:xfrm>
          <a:prstGeom prst="roundRect">
            <a:avLst/>
          </a:prstGeom>
          <a:solidFill>
            <a:srgbClr val="EAF2E7"/>
          </a:solidFill>
          <a:ln w="12700">
            <a:solidFill>
              <a:srgbClr val="EA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73568" y="5157216"/>
            <a:ext cx="914400" cy="219456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500" b="1">
                <a:solidFill>
                  <a:srgbClr val="204736"/>
                </a:solidFill>
                <a:latin typeface="Avenir Next"/>
              </a:defRPr>
            </a:pPr>
            <a:r>
              <a:t>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5157216"/>
            <a:ext cx="2011680" cy="219456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500" b="0">
                <a:solidFill>
                  <a:srgbClr val="163126"/>
                </a:solidFill>
                <a:latin typeface="Avenir"/>
              </a:defRPr>
            </a:pPr>
            <a:r>
              <a:t>About $8.54 for the basket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650992"/>
            <a:ext cx="1828800" cy="201168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500" b="1">
                <a:solidFill>
                  <a:srgbClr val="5D6E61"/>
                </a:solidFill>
                <a:latin typeface="Avenir Next"/>
              </a:defRPr>
            </a:pPr>
            <a:r>
              <a:t>Why this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925312"/>
            <a:ext cx="3246120" cy="603504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300" b="0">
                <a:solidFill>
                  <a:srgbClr val="163126"/>
                </a:solidFill>
                <a:latin typeface="Avenir"/>
              </a:defRPr>
            </a:pPr>
            <a:r>
              <a:t>The recommendation is useful because it is actionable: it tells the user what to buy, what the basket roughly achieves, and where it may fit best nearby. In this observed case, Safeway is the one-stop pick and La Plaza is the stronger produce fit.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04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2377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D9A441"/>
                </a:solidFill>
                <a:latin typeface="Avenir Next"/>
              </a:defRPr>
            </a:pPr>
            <a:r>
              <a:t>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5D6E61"/>
                </a:solidFill>
                <a:latin typeface="Avenir Next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9966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3000" b="1">
                <a:solidFill>
                  <a:srgbClr val="163126"/>
                </a:solidFill>
                <a:latin typeface="Avenir Next"/>
              </a:defRPr>
            </a:pPr>
            <a:r>
              <a:t>Limitations + How To Improve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98448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600">
                <a:solidFill>
                  <a:srgbClr val="5D6E61"/>
                </a:solidFill>
                <a:latin typeface="Avenir"/>
              </a:defRPr>
            </a:pPr>
            <a:r>
              <a:t>Strong communication includes being honest about uncertainty, assumptions, and what the current tool still cannot 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965960"/>
            <a:ext cx="5074920" cy="3657600"/>
          </a:xfrm>
          <a:prstGeom prst="roundRect">
            <a:avLst/>
          </a:prstGeom>
          <a:solidFill>
            <a:srgbClr val="F8E8E1"/>
          </a:solidFill>
          <a:ln w="12700">
            <a:solidFill>
              <a:srgbClr val="F8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212848"/>
            <a:ext cx="2560320" cy="219456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800" b="1">
                <a:solidFill>
                  <a:srgbClr val="204736"/>
                </a:solidFill>
                <a:latin typeface="Avenir Next"/>
              </a:defRPr>
            </a:pPr>
            <a:r>
              <a:t>Current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487168"/>
            <a:ext cx="4572000" cy="288036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defRPr sz="1400">
                <a:solidFill>
                  <a:srgbClr val="163126"/>
                </a:solidFill>
                <a:latin typeface="Avenir"/>
              </a:defRPr>
            </a:pPr>
            <a:r>
              <a:t>• The basket uses generic foods, not exact branded products or exact live store inventory.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400">
                <a:solidFill>
                  <a:srgbClr val="163126"/>
                </a:solidFill>
                <a:latin typeface="Avenir"/>
              </a:defRPr>
            </a:pPr>
            <a:r>
              <a:t>• Price estimates are regional references from public price tables, not store quotes.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400">
                <a:solidFill>
                  <a:srgbClr val="163126"/>
                </a:solidFill>
                <a:latin typeface="Avenir"/>
              </a:defRPr>
            </a:pPr>
            <a:r>
              <a:t>• Store recommendations are coarse fit suggestions based on nearby store type, brand, and distance.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400">
                <a:solidFill>
                  <a:srgbClr val="163126"/>
                </a:solidFill>
                <a:latin typeface="Avenir"/>
              </a:defRPr>
            </a:pPr>
            <a:r>
              <a:t>• Long shopping windows are heuristic. Fresh and bulk modes both soften perishables, so results become approximate.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400">
                <a:solidFill>
                  <a:srgbClr val="163126"/>
                </a:solidFill>
                <a:latin typeface="Avenir"/>
              </a:defRPr>
            </a:pPr>
            <a:r>
              <a:t>• The tool is not medical nutrition advice and does not capture allergies or complex health needs.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25312" y="1965960"/>
            <a:ext cx="5623560" cy="3657600"/>
          </a:xfrm>
          <a:prstGeom prst="roundRect">
            <a:avLst/>
          </a:prstGeom>
          <a:solidFill>
            <a:srgbClr val="EAF2E7"/>
          </a:solidFill>
          <a:ln w="12700">
            <a:solidFill>
              <a:srgbClr val="EA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08192" y="2212848"/>
            <a:ext cx="2560320" cy="219456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800" b="1">
                <a:solidFill>
                  <a:srgbClr val="204736"/>
                </a:solidFill>
                <a:latin typeface="Avenir Next"/>
              </a:defRPr>
            </a:pPr>
            <a:r>
              <a:t>How to improve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08192" y="2487168"/>
            <a:ext cx="5120640" cy="288036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defRPr sz="1400">
                <a:solidFill>
                  <a:srgbClr val="163126"/>
                </a:solidFill>
                <a:latin typeface="Avenir"/>
              </a:defRPr>
            </a:pPr>
            <a:r>
              <a:t>• Add real store inventory and current store-specific prices where possible.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400">
                <a:solidFill>
                  <a:srgbClr val="163126"/>
                </a:solidFill>
                <a:latin typeface="Avenir"/>
              </a:defRPr>
            </a:pPr>
            <a:r>
              <a:t>• Let the user set a hard spending cap, not just a budget-friendly preference.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400">
                <a:solidFill>
                  <a:srgbClr val="163126"/>
                </a:solidFill>
                <a:latin typeface="Avenir"/>
              </a:defRPr>
            </a:pPr>
            <a:r>
              <a:t>• Support allergies, household size, cultural preferences, and stronger nutrition guardrails.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400">
                <a:solidFill>
                  <a:srgbClr val="163126"/>
                </a:solidFill>
                <a:latin typeface="Avenir"/>
              </a:defRPr>
            </a:pPr>
            <a:r>
              <a:t>• Collect feedback from real student or young professional users and adapt the interface around what confuses them.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400">
                <a:solidFill>
                  <a:srgbClr val="163126"/>
                </a:solidFill>
                <a:latin typeface="Avenir"/>
              </a:defRPr>
            </a:pPr>
            <a:r>
              <a:t>• Show confidence labels more clearly so users know what is exact versus approximate.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5852160"/>
            <a:ext cx="11018520" cy="53035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5998464"/>
            <a:ext cx="10698480" cy="219456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300" b="0">
                <a:solidFill>
                  <a:srgbClr val="5D6E61"/>
                </a:solidFill>
                <a:latin typeface="Avenir"/>
              </a:defRPr>
            </a:pPr>
            <a:r>
              <a:t>Observed evidence: in 7-day mode, fresh landed at 631.6 g protein versus a 910.0 g target, and bulk landed at 780.2 g versus 910.0 g. That shows why perishables and scaling remain a real limitation.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04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2377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D9A441"/>
                </a:solidFill>
                <a:latin typeface="Avenir Next"/>
              </a:defRPr>
            </a:pPr>
            <a:r>
              <a:t>ETHICS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5D6E61"/>
                </a:solidFill>
                <a:latin typeface="Avenir Next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9966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3000" b="1">
                <a:solidFill>
                  <a:srgbClr val="163126"/>
                </a:solidFill>
                <a:latin typeface="Avenir Next"/>
              </a:defRPr>
            </a:pPr>
            <a:r>
              <a:t>Stakeholders + Ethics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98448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600">
                <a:solidFill>
                  <a:srgbClr val="5D6E61"/>
                </a:solidFill>
                <a:latin typeface="Avenir"/>
              </a:defRPr>
            </a:pPr>
            <a:r>
              <a:t>A useful recommendation system should help without overstating certainty or excluding the people who need help most.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2011680"/>
            <a:ext cx="5303520" cy="1325880"/>
          </a:xfrm>
          <a:prstGeom prst="roundRect">
            <a:avLst/>
          </a:prstGeom>
          <a:solidFill>
            <a:srgbClr val="E8F0F7"/>
          </a:solidFill>
          <a:ln w="12700">
            <a:solidFill>
              <a:srgbClr val="E8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194560"/>
            <a:ext cx="3017520" cy="219456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800" b="1">
                <a:solidFill>
                  <a:srgbClr val="204736"/>
                </a:solidFill>
                <a:latin typeface="Avenir Next"/>
              </a:defRPr>
            </a:pPr>
            <a:r>
              <a:t>Shoppers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578608"/>
            <a:ext cx="4754880" cy="512064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500" b="0">
                <a:solidFill>
                  <a:srgbClr val="163126"/>
                </a:solidFill>
                <a:latin typeface="Avenir"/>
              </a:defRPr>
            </a:pPr>
            <a:r>
              <a:t>They gain a clearer starting point for cost, nutrition, and store choice, especially if they feel overwhelmed by grocery planning.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011680"/>
            <a:ext cx="5303520" cy="1325880"/>
          </a:xfrm>
          <a:prstGeom prst="roundRect">
            <a:avLst/>
          </a:prstGeom>
          <a:solidFill>
            <a:srgbClr val="EAF2E7"/>
          </a:solidFill>
          <a:ln w="12700">
            <a:solidFill>
              <a:srgbClr val="EA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3017520" cy="219456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800" b="1">
                <a:solidFill>
                  <a:srgbClr val="204736"/>
                </a:solidFill>
                <a:latin typeface="Avenir Next"/>
              </a:defRPr>
            </a:pPr>
            <a:r>
              <a:t>Stores and educators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578608"/>
            <a:ext cx="4754880" cy="512064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500" b="0">
                <a:solidFill>
                  <a:srgbClr val="163126"/>
                </a:solidFill>
                <a:latin typeface="Avenir"/>
              </a:defRPr>
            </a:pPr>
            <a:r>
              <a:t>Nearby stores may benefit from more intentional trips, and nutrition coaches or campus wellness groups could use the tool as a teaching aid.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749039"/>
            <a:ext cx="5303520" cy="1325880"/>
          </a:xfrm>
          <a:prstGeom prst="roundRect">
            <a:avLst/>
          </a:prstGeom>
          <a:solidFill>
            <a:srgbClr val="F8E8E1"/>
          </a:solidFill>
          <a:ln w="12700">
            <a:solidFill>
              <a:srgbClr val="F8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3931919"/>
            <a:ext cx="3017520" cy="219456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800" b="1">
                <a:solidFill>
                  <a:srgbClr val="204736"/>
                </a:solidFill>
                <a:latin typeface="Avenir Next"/>
              </a:defRPr>
            </a:pPr>
            <a:r>
              <a:t>Potentially underserved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315967"/>
            <a:ext cx="4754880" cy="512064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500" b="0">
                <a:solidFill>
                  <a:srgbClr val="163126"/>
                </a:solidFill>
                <a:latin typeface="Avenir"/>
              </a:defRPr>
            </a:pPr>
            <a:r>
              <a:t>People with allergies, medical conditions, low food access, or strong cultural constraints may need more safeguards than the current tool provides.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749039"/>
            <a:ext cx="5303520" cy="1325880"/>
          </a:xfrm>
          <a:prstGeom prst="roundRect">
            <a:avLst/>
          </a:prstGeom>
          <a:solidFill>
            <a:srgbClr val="F5E5BE"/>
          </a:solidFill>
          <a:ln w="12700">
            <a:solidFill>
              <a:srgbClr val="F5E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3931919"/>
            <a:ext cx="3017520" cy="219456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800" b="1">
                <a:solidFill>
                  <a:srgbClr val="204736"/>
                </a:solidFill>
                <a:latin typeface="Avenir Next"/>
              </a:defRPr>
            </a:pPr>
            <a:r>
              <a:t>Ethical design responsibility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315967"/>
            <a:ext cx="4754880" cy="512064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500" b="0">
                <a:solidFill>
                  <a:srgbClr val="163126"/>
                </a:solidFill>
                <a:latin typeface="Avenir"/>
              </a:defRPr>
            </a:pPr>
            <a:r>
              <a:t>The tool should keep telling the truth about approximation: regional prices are not store quotes and store-fit suggestions are not inventory guarantees.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5623560"/>
            <a:ext cx="11018520" cy="804672"/>
          </a:xfrm>
          <a:prstGeom prst="roundRect">
            <a:avLst/>
          </a:prstGeom>
          <a:solidFill>
            <a:srgbClr val="204736"/>
          </a:solidFill>
          <a:ln w="12700">
            <a:solidFill>
              <a:srgbClr val="204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50800" rtlCol="0" anchor="t"/>
          <a:lstStyle/>
          <a:p>
            <a:pPr algn="ctr">
              <a:defRPr sz="1700">
                <a:solidFill>
                  <a:srgbClr val="FFFDF8"/>
                </a:solidFill>
                <a:latin typeface="Avenir Next"/>
              </a:defRPr>
            </a:pPr>
            <a:r>
              <a:t>Thoughtful ethical stance</a:t>
            </a:r>
          </a:p>
          <a:p>
            <a:pPr>
              <a:defRPr sz="1400">
                <a:solidFill>
                  <a:srgbClr val="FFFDF8"/>
                </a:solidFill>
                <a:latin typeface="Avenir"/>
              </a:defRPr>
            </a:pPr>
            <a:r>
              <a:t>The responsible position is to present the tool as a practical starting point for grocery decisions, not as medical advice or a perfect answer. Transparency is part of the product, not a disclaimer added at the end.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04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09728"/>
            <a:ext cx="2377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D9A441"/>
                </a:solidFill>
                <a:latin typeface="Avenir Next"/>
              </a:defRPr>
            </a:pPr>
            <a: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5D6E61"/>
                </a:solidFill>
                <a:latin typeface="Avenir Next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9966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3000" b="1">
                <a:solidFill>
                  <a:srgbClr val="163126"/>
                </a:solidFill>
                <a:latin typeface="Avenir Next"/>
              </a:defRPr>
            </a:pPr>
            <a:r>
              <a:t>Takeaways + Future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98448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600">
                <a:solidFill>
                  <a:srgbClr val="5D6E61"/>
                </a:solidFill>
                <a:latin typeface="Avenir"/>
              </a:defRPr>
            </a:pPr>
            <a:r>
              <a:t>The strongest close is simple: this project makes nutrition goals more actionable for an everyday shopper.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2331720"/>
            <a:ext cx="3429000" cy="2468880"/>
          </a:xfrm>
          <a:prstGeom prst="roundRect">
            <a:avLst/>
          </a:prstGeom>
          <a:solidFill>
            <a:srgbClr val="E8F0F7"/>
          </a:solidFill>
          <a:ln w="12700">
            <a:solidFill>
              <a:srgbClr val="E8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615184"/>
            <a:ext cx="2743200" cy="27432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900" b="1">
                <a:solidFill>
                  <a:srgbClr val="204736"/>
                </a:solidFill>
                <a:latin typeface="Avenir Next"/>
              </a:defRPr>
            </a:pPr>
            <a:r>
              <a:t>Why it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35808"/>
            <a:ext cx="2926080" cy="132588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700" b="0">
                <a:solidFill>
                  <a:srgbClr val="163126"/>
                </a:solidFill>
                <a:latin typeface="Avenir"/>
              </a:defRPr>
            </a:pPr>
            <a:r>
              <a:t>It turns an abstract nutrition goal into groceries, prices, and store choices a person can immediately use.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33672" y="2331720"/>
            <a:ext cx="3429000" cy="2468880"/>
          </a:xfrm>
          <a:prstGeom prst="roundRect">
            <a:avLst/>
          </a:prstGeom>
          <a:solidFill>
            <a:srgbClr val="EAF2E7"/>
          </a:solidFill>
          <a:ln w="12700">
            <a:solidFill>
              <a:srgbClr val="EA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2615184"/>
            <a:ext cx="2743200" cy="27432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900" b="1">
                <a:solidFill>
                  <a:srgbClr val="204736"/>
                </a:solidFill>
                <a:latin typeface="Avenir Next"/>
              </a:defRPr>
            </a:pPr>
            <a:r>
              <a:t>Why it is worth using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3035808"/>
            <a:ext cx="2926080" cy="132588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700" b="0">
                <a:solidFill>
                  <a:srgbClr val="163126"/>
                </a:solidFill>
                <a:latin typeface="Avenir"/>
              </a:defRPr>
            </a:pPr>
            <a:r>
              <a:t>The outputs are understandable, local-feeling, and honest about what is approximate.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36992" y="2331720"/>
            <a:ext cx="3429000" cy="2468880"/>
          </a:xfrm>
          <a:prstGeom prst="roundRect">
            <a:avLst/>
          </a:prstGeom>
          <a:solidFill>
            <a:srgbClr val="F8E8E1"/>
          </a:solidFill>
          <a:ln w="12700">
            <a:solidFill>
              <a:srgbClr val="F8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0" y="2615184"/>
            <a:ext cx="2743200" cy="27432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900" b="1">
                <a:solidFill>
                  <a:srgbClr val="204736"/>
                </a:solidFill>
                <a:latin typeface="Avenir Next"/>
              </a:defRPr>
            </a:pPr>
            <a:r>
              <a:t>What comes 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035808"/>
            <a:ext cx="2926080" cy="132588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defRPr sz="1700" b="0">
                <a:solidFill>
                  <a:srgbClr val="163126"/>
                </a:solidFill>
                <a:latin typeface="Avenir"/>
              </a:defRPr>
            </a:pPr>
            <a:r>
              <a:t>Pilot it with real users, collect feedback, and strengthen the data and confidence signals.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5303520"/>
            <a:ext cx="11018520" cy="868680"/>
          </a:xfrm>
          <a:prstGeom prst="roundRect">
            <a:avLst/>
          </a:prstGeom>
          <a:solidFill>
            <a:srgbClr val="204736"/>
          </a:solidFill>
          <a:ln w="12700">
            <a:solidFill>
              <a:srgbClr val="204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50800" rtlCol="0" anchor="t"/>
          <a:lstStyle/>
          <a:p>
            <a:pPr algn="ctr">
              <a:defRPr sz="1700">
                <a:solidFill>
                  <a:srgbClr val="FFFDF8"/>
                </a:solidFill>
                <a:latin typeface="Avenir Next"/>
              </a:defRPr>
            </a:pPr>
            <a:r>
              <a:t>Closing line</a:t>
            </a:r>
          </a:p>
          <a:p>
            <a:pPr>
              <a:defRPr sz="1600">
                <a:solidFill>
                  <a:srgbClr val="FFFDF8"/>
                </a:solidFill>
                <a:latin typeface="Avenir"/>
              </a:defRPr>
            </a:pPr>
            <a:r>
              <a:t>If the goal is better grocery decisions for non-experts, this tool already works as a strong communication bridge between nutrition targets and real shopping behavior.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1728</Words>
  <Application>Microsoft Macintosh PowerPoint</Application>
  <PresentationFormat>Widescreen</PresentationFormat>
  <Paragraphs>170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Nutrition Goals to a Grocery Trip</dc:title>
  <dc:subject>Editable INDENG 243 final presentation</dc:subject>
  <dc:creator>Codex</dc:creator>
  <cp:keywords/>
  <dc:description>generated using python-pptx</dc:description>
  <cp:lastModifiedBy>Yinghan Sun</cp:lastModifiedBy>
  <cp:revision>2</cp:revision>
  <dcterms:created xsi:type="dcterms:W3CDTF">2013-01-27T09:14:16Z</dcterms:created>
  <dcterms:modified xsi:type="dcterms:W3CDTF">2026-04-21T17:26:16Z</dcterms:modified>
  <cp:category/>
</cp:coreProperties>
</file>